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2CD421EB-7603-6362-0092-9A7E1C6D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>
            <a:extLst>
              <a:ext uri="{FF2B5EF4-FFF2-40B4-BE49-F238E27FC236}">
                <a16:creationId xmlns:a16="http://schemas.microsoft.com/office/drawing/2014/main" id="{819E1D61-43DC-49F6-5C34-BD04489359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>
            <a:extLst>
              <a:ext uri="{FF2B5EF4-FFF2-40B4-BE49-F238E27FC236}">
                <a16:creationId xmlns:a16="http://schemas.microsoft.com/office/drawing/2014/main" id="{DE064455-1CE6-BEDB-ECEF-A9E31CB355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959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9084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u="sng" dirty="0">
                <a:latin typeface="Times New Roman"/>
              </a:rPr>
              <a:t>Team Details</a:t>
            </a:r>
            <a:endParaRPr sz="1500" b="1"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  <a:p>
            <a:pPr marL="590550" lvl="1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GB" sz="1500" b="1" dirty="0">
                <a:latin typeface="Times New Roman"/>
              </a:rPr>
              <a:t>Team name: </a:t>
            </a:r>
            <a:endParaRPr sz="1500" b="1" dirty="0"/>
          </a:p>
          <a:p>
            <a:pPr marL="590550" lvl="1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GB" sz="1500" b="1" dirty="0">
                <a:latin typeface="Times New Roman"/>
              </a:rPr>
              <a:t>Team leader name: </a:t>
            </a:r>
            <a:endParaRPr sz="1500" b="1" dirty="0"/>
          </a:p>
          <a:p>
            <a:pPr marL="590550" lvl="1" algn="l" rtl="0"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GB" sz="1500" b="1" dirty="0">
                <a:latin typeface="Times New Roman"/>
              </a:rPr>
              <a:t>Team size:</a:t>
            </a:r>
          </a:p>
          <a:p>
            <a:pPr marL="590550" lvl="1" algn="l" rtl="0">
              <a:spcBef>
                <a:spcPts val="0"/>
              </a:spcBef>
              <a:spcAft>
                <a:spcPts val="0"/>
              </a:spcAft>
              <a:buSzPts val="1500"/>
            </a:pPr>
            <a:endParaRPr lang="en-GB"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F9F5B65C-10FD-85D3-01B7-69E9BC663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>
            <a:extLst>
              <a:ext uri="{FF2B5EF4-FFF2-40B4-BE49-F238E27FC236}">
                <a16:creationId xmlns:a16="http://schemas.microsoft.com/office/drawing/2014/main" id="{71DDC396-D28E-583D-FAA2-BE9FCB91A7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573CBF65-6732-839E-F570-5713136AD3D1}"/>
              </a:ext>
            </a:extLst>
          </p:cNvPr>
          <p:cNvSpPr txBox="1"/>
          <p:nvPr/>
        </p:nvSpPr>
        <p:spPr>
          <a:xfrm>
            <a:off x="274320" y="716280"/>
            <a:ext cx="8686800" cy="40157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1">
                <a:latin typeface="Times New Roman"/>
              </a:rPr>
              <a:t>Problem Statement</a:t>
            </a:r>
            <a:endParaRPr lang="en-IN" sz="1100" b="1" dirty="0">
              <a:solidFill>
                <a:srgbClr val="1F3A5F"/>
              </a:solidFill>
              <a:latin typeface="Calibri"/>
            </a:endParaRPr>
          </a:p>
          <a:p>
            <a:pPr algn="just"/>
            <a:r>
              <a:rPr sz="1000" b="0">
                <a:latin typeface="Times New Roman"/>
              </a:rPr>
              <a:t>Karnataka State Police faces significant challenges in analyzing siloed crime data, identifying organized criminal networks, and proactively predicting emerging hotspots. Existing systems rely on rigid dashboards and lack intuitive, AI-driven insights required for rapid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3962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Times New Roman"/>
              </a:rPr>
              <a:t>Brief about the solution</a:t>
            </a:r>
            <a:endParaRPr sz="1600" b="1"/>
          </a:p>
        </p:txBody>
      </p:sp>
      <p:sp>
        <p:nvSpPr>
          <p:cNvPr id="61" name="TextBox 60"/>
          <p:cNvSpPr txBox="1"/>
          <p:nvPr/>
        </p:nvSpPr>
        <p:spPr>
          <a:xfrm>
            <a:off x="274320" y="1371600"/>
            <a:ext cx="868680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1">
                <a:latin typeface="Times New Roman"/>
              </a:rPr>
              <a:t>KSP Crime Intelligence Platform</a:t>
            </a:r>
          </a:p>
          <a:p>
            <a:pPr algn="just"/>
            <a:r>
              <a:rPr sz="1000" b="0">
                <a:latin typeface="Times New Roman"/>
              </a:rPr>
              <a:t>An intelligent, centralized analytics hub that transforms raw crime data into actionable insights.</a:t>
            </a:r>
          </a:p>
          <a:p>
            <a:pPr algn="l"/>
          </a:p>
          <a:p>
            <a:pPr algn="l"/>
            <a:r>
              <a:rPr sz="1000" b="0">
                <a:latin typeface="Times New Roman"/>
              </a:rPr>
              <a:t>CORE PILLARS:</a:t>
            </a:r>
          </a:p>
          <a:p>
            <a:pPr algn="just"/>
            <a:r>
              <a:rPr sz="1000" b="0">
                <a:latin typeface="Times New Roman"/>
              </a:rPr>
              <a:t>• Network Analysis: Uncover organized crime rings using Louvain community detection and Centrality algorithms.</a:t>
            </a:r>
          </a:p>
          <a:p>
            <a:pPr algn="just"/>
            <a:r>
              <a:rPr sz="1000" b="0">
                <a:latin typeface="Times New Roman"/>
              </a:rPr>
              <a:t>• Predictive AI: Leverage Zia AutoML for district-level risk scoring and real-time anomaly detection.</a:t>
            </a:r>
          </a:p>
          <a:p>
            <a:pPr algn="just"/>
            <a:r>
              <a:rPr sz="1000" b="0">
                <a:latin typeface="Times New Roman"/>
              </a:rPr>
              <a:t>• Spatial Intelligence: Map real-time hotspots using Kernel Density Estimation (KDE).</a:t>
            </a:r>
          </a:p>
          <a:p>
            <a:pPr algn="just"/>
            <a:r>
              <a:rPr sz="1000" b="0">
                <a:latin typeface="Times New Roman"/>
              </a:rPr>
              <a:t>• Socio-Economic Insights: Correlate demographic data with crime rates to identify root causes.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Times New Roman"/>
              </a:rPr>
              <a:t>Opportunities</a:t>
            </a:r>
            <a:endParaRPr sz="1600" b="1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lang="en-GB" sz="1600" b="1">
                <a:solidFill>
                  <a:srgbClr val="000000"/>
                </a:solidFill>
                <a:latin typeface="Times New Roman"/>
              </a:rPr>
              <a:t>How different is it from any of the other existing ideas?</a:t>
            </a:r>
            <a:endParaRPr sz="1600" b="1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lang="en-GB" sz="1600" b="1">
                <a:solidFill>
                  <a:srgbClr val="000000"/>
                </a:solidFill>
                <a:latin typeface="Times New Roman"/>
              </a:rPr>
              <a:t>How will it be able to solve the problem?</a:t>
            </a:r>
            <a:endParaRPr sz="1600" b="1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lang="en-GB" sz="1600" b="1">
                <a:solidFill>
                  <a:srgbClr val="000000"/>
                </a:solidFill>
                <a:latin typeface="Times New Roman"/>
              </a:rPr>
              <a:t>USP of the proposed solution</a:t>
            </a:r>
            <a:endParaRPr sz="16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595959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74320" y="2286000"/>
            <a:ext cx="8686800" cy="2743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>
                <a:solidFill>
                  <a:srgbClr val="B8862A"/>
                </a:solidFill>
                <a:latin typeface="Times New Roman"/>
              </a:rPr>
              <a:t>HOW DIFFERENT FROM EXISTING IDEAS?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Existing crime analytics tools are dashboard-centric (rigid reports) or single-LLM chatbots (black box, hallucination-prone). We combine true agent orchestration (Router dispatching to specialist agents with dedicated tools) with explainable-by-design evidence trails — no other approach makes every AI claim auditable end-to-end while supporting multilingual voice.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000" b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>
                <a:solidFill>
                  <a:srgbClr val="B8862A"/>
                </a:solidFill>
                <a:latin typeface="Times New Roman"/>
              </a:rPr>
              <a:t>HOW IT SOLVES THE PROBLEM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Investigators get instant NL access to 10K+ FIRs without writing SQL. Analysts discover hidden networks via graph algorithms. Supervisors see trend dashboards. Every response includes data references + reasoning + confidence, turning AI from a black box into an accountable investigative assistant that police leadership can trust.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000" b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>
                <a:solidFill>
                  <a:srgbClr val="B8862A"/>
                </a:solidFill>
                <a:latin typeface="Times New Roman"/>
              </a:rPr>
              <a:t>USP (UNIQUE SELLING PROPOSITION)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(1) Only solution combining NL multilingual chat + voice + true agent orchestration + Catalyst-native deployment. (2) Explainability is structural (not bolted on) — every response has a trail_id linking to immutable audit log. (3) Router-Agent pattern is the sweet spot between sophistication and build-ability for a 1-week sprint. (4) Zero external dependencies = simpler deployment, lower cost, tighter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Times New Roman"/>
              </a:rPr>
              <a:t>List of features offered by the solution</a:t>
            </a:r>
            <a:endParaRPr sz="1800" b="1"/>
          </a:p>
        </p:txBody>
      </p:sp>
      <p:sp>
        <p:nvSpPr>
          <p:cNvPr id="73" name="TextBox 72"/>
          <p:cNvSpPr txBox="1"/>
          <p:nvPr/>
        </p:nvSpPr>
        <p:spPr>
          <a:xfrm>
            <a:off x="274320" y="1371600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1">
                <a:latin typeface="Times New Roman"/>
              </a:rPr>
              <a:t>Key MVP Features</a:t>
            </a:r>
          </a:p>
          <a:p>
            <a:pPr algn="l"/>
            <a:r>
              <a:rPr sz="1000" b="0">
                <a:latin typeface="Times New Roman"/>
              </a:rPr>
              <a:t>1. Organized Crime Network Analysis</a:t>
            </a:r>
          </a:p>
          <a:p>
            <a:pPr algn="just"/>
            <a:r>
              <a:rPr sz="1000" b="0">
                <a:latin typeface="Times New Roman"/>
              </a:rPr>
              <a:t>Interactive force-directed graphs linking Accused, FIRs, Bank Accounts, and Phones. Features UI-simulated Louvain (communities) and Centrality (key figures) algorithms.</a:t>
            </a:r>
          </a:p>
          <a:p>
            <a:pPr algn="l"/>
          </a:p>
          <a:p>
            <a:pPr algn="l"/>
            <a:r>
              <a:rPr sz="1000" b="0">
                <a:latin typeface="Times New Roman"/>
              </a:rPr>
              <a:t>2. Predictive AI &amp; Anomaly Detection</a:t>
            </a:r>
          </a:p>
          <a:p>
            <a:pPr algn="just"/>
            <a:r>
              <a:rPr sz="1000" b="0">
                <a:latin typeface="Times New Roman"/>
              </a:rPr>
              <a:t>Dynamic District Risk Choropleth maps, real-time anomaly alerts (e.g., vehicle theft surges), and feature importance drivers.</a:t>
            </a:r>
          </a:p>
          <a:p>
            <a:pPr algn="l"/>
          </a:p>
          <a:p>
            <a:pPr algn="l"/>
            <a:r>
              <a:rPr sz="1000" b="0">
                <a:latin typeface="Times New Roman"/>
              </a:rPr>
              <a:t>3. Spatial &amp; Temporal Hotspots</a:t>
            </a:r>
          </a:p>
          <a:p>
            <a:pPr algn="just"/>
            <a:r>
              <a:rPr sz="1000" b="0">
                <a:latin typeface="Times New Roman"/>
              </a:rPr>
              <a:t>Geospatial mapping with Leaflet KDE heatmaps, integrated with ECharts for analyzing temporal trend forecasts.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83484" y="1308040"/>
            <a:ext cx="4297680" cy="39325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1">
                <a:latin typeface="Times New Roman"/>
              </a:rPr>
              <a:t>Cross-Cutting Capabilities</a:t>
            </a:r>
            <a:endParaRPr sz="1100" b="1" dirty="0">
              <a:solidFill>
                <a:srgbClr val="B8862A"/>
              </a:solidFill>
              <a:latin typeface="Calibri"/>
            </a:endParaRPr>
          </a:p>
          <a:p>
            <a:pPr algn="l"/>
            <a:r>
              <a:rPr sz="1000" b="0">
                <a:latin typeface="Times New Roman"/>
              </a:rPr>
              <a:t>4. Socio-Economic Correlation</a:t>
            </a:r>
          </a:p>
          <a:p>
            <a:pPr algn="just"/>
            <a:r>
              <a:rPr sz="1000" b="0">
                <a:latin typeface="Times New Roman"/>
              </a:rPr>
              <a:t>Pearson correlation analysis linking crime types to demographics like unemployment and urbanization.</a:t>
            </a:r>
          </a:p>
          <a:p>
            <a:pPr algn="l"/>
          </a:p>
          <a:p>
            <a:pPr algn="l"/>
            <a:r>
              <a:rPr sz="1000" b="0">
                <a:latin typeface="Times New Roman"/>
              </a:rPr>
              <a:t>5. Explainable AI</a:t>
            </a:r>
          </a:p>
          <a:p>
            <a:pPr algn="just"/>
            <a:r>
              <a:rPr sz="1000" b="0">
                <a:latin typeface="Times New Roman"/>
              </a:rPr>
              <a:t>Transparent lineage trails for all AI predictions, ensuring trust and accountability.</a:t>
            </a:r>
          </a:p>
          <a:p>
            <a:pPr algn="l"/>
          </a:p>
          <a:p>
            <a:pPr algn="l"/>
            <a:r>
              <a:rPr sz="1000" b="0">
                <a:latin typeface="Times New Roman"/>
              </a:rPr>
              <a:t>6. Secure Role-Based Access</a:t>
            </a:r>
          </a:p>
          <a:p>
            <a:pPr algn="just"/>
            <a:r>
              <a:rPr sz="1000" b="0">
                <a:latin typeface="Times New Roman"/>
              </a:rPr>
              <a:t>Tailored dashboards and data access for SCRB Analysts, District SPs, and Investigators.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30244" y="579240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Times New Roman"/>
              </a:rPr>
              <a:t>Process flow diagram or Use-case diagram</a:t>
            </a:r>
            <a:endParaRPr sz="1800" b="1" dirty="0"/>
          </a:p>
        </p:txBody>
      </p:sp>
      <p:pic>
        <p:nvPicPr>
          <p:cNvPr id="79" name="Picture 78" descr="agent_flow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996176"/>
            <a:ext cx="8341856" cy="3941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133359" y="552181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Times New Roman"/>
              </a:rPr>
              <a:t>Wireframes/Mock diagrams of the proposed solution (optional)</a:t>
            </a:r>
            <a:endParaRPr sz="1800" b="1" dirty="0"/>
          </a:p>
        </p:txBody>
      </p:sp>
      <p:sp>
        <p:nvSpPr>
          <p:cNvPr id="85" name="TextBox 84"/>
          <p:cNvSpPr txBox="1"/>
          <p:nvPr/>
        </p:nvSpPr>
        <p:spPr>
          <a:xfrm>
            <a:off x="228600" y="1116599"/>
            <a:ext cx="8686800" cy="34747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1">
                <a:latin typeface="Times New Roman"/>
              </a:rPr>
              <a:t>Key UI Modules Implemented</a:t>
            </a:r>
          </a:p>
          <a:p>
            <a:pPr algn="l"/>
            <a:r>
              <a:rPr sz="1000" b="0">
                <a:latin typeface="Times New Roman"/>
              </a:rPr>
              <a:t>Module 1: Main Dashboard</a:t>
            </a:r>
          </a:p>
          <a:p>
            <a:pPr algn="just"/>
            <a:r>
              <a:rPr sz="1000" b="0">
                <a:latin typeface="Times New Roman"/>
              </a:rPr>
              <a:t>High-level KPIs, spatial heatmaps, and temporal crime trend forecasts.</a:t>
            </a:r>
          </a:p>
          <a:p>
            <a:pPr algn="l"/>
          </a:p>
          <a:p>
            <a:pPr algn="l"/>
            <a:r>
              <a:rPr sz="1000" b="0">
                <a:latin typeface="Times New Roman"/>
              </a:rPr>
              <a:t>Module 2: Network Link Analysis</a:t>
            </a:r>
          </a:p>
          <a:p>
            <a:pPr algn="just"/>
            <a:r>
              <a:rPr sz="1000" b="0">
                <a:latin typeface="Times New Roman"/>
              </a:rPr>
              <a:t>Seed-based entity search powering dynamic graphs with algorithm overlays.</a:t>
            </a:r>
          </a:p>
          <a:p>
            <a:pPr algn="l"/>
          </a:p>
          <a:p>
            <a:pPr algn="l"/>
            <a:r>
              <a:rPr sz="1000" b="0">
                <a:latin typeface="Times New Roman"/>
              </a:rPr>
              <a:t>Module 3: Predictive AI</a:t>
            </a:r>
          </a:p>
          <a:p>
            <a:pPr algn="just"/>
            <a:r>
              <a:rPr sz="1000" b="0">
                <a:latin typeface="Times New Roman"/>
              </a:rPr>
              <a:t>Choropleth risk map, anomaly detection logs, and feature importance analysis.</a:t>
            </a:r>
          </a:p>
          <a:p>
            <a:pPr algn="l"/>
          </a:p>
          <a:p>
            <a:pPr algn="l"/>
            <a:r>
              <a:rPr sz="1000" b="0">
                <a:latin typeface="Times New Roman"/>
              </a:rPr>
              <a:t>Module 4: Socio-Economic Correlation</a:t>
            </a:r>
          </a:p>
          <a:p>
            <a:pPr algn="just"/>
            <a:r>
              <a:rPr sz="1000" b="0">
                <a:latin typeface="Times New Roman"/>
              </a:rPr>
              <a:t>Interactive scatter plots and correlation matrices matching demographics to crime 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40220" y="480849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Times New Roman"/>
              </a:rPr>
              <a:t>Architecture diagram of the proposed solution</a:t>
            </a:r>
            <a:endParaRPr sz="1800" b="1" dirty="0"/>
          </a:p>
        </p:txBody>
      </p:sp>
      <p:pic>
        <p:nvPicPr>
          <p:cNvPr id="91" name="Picture 90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73" y="970156"/>
            <a:ext cx="8474927" cy="384048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364273" y="486918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800" b="0" dirty="0">
                <a:solidFill>
                  <a:srgbClr val="6B7785"/>
                </a:solidFill>
                <a:latin typeface="Times New Roman"/>
              </a:rPr>
              <a:t>5-layer architecture: Users &amp; Channels → Access/Security → Agentic Orchestration (Router + 4 Agents) → Catalyst Services → Cross-cutting (Explainability, Multilingual, Audit)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Times New Roman"/>
              </a:rPr>
              <a:t>Technologies to be used in the solution</a:t>
            </a:r>
            <a:endParaRPr sz="1800" b="1"/>
          </a:p>
        </p:txBody>
      </p:sp>
      <p:sp>
        <p:nvSpPr>
          <p:cNvPr id="97" name="TextBox 96"/>
          <p:cNvSpPr txBox="1"/>
          <p:nvPr/>
        </p:nvSpPr>
        <p:spPr>
          <a:xfrm>
            <a:off x="274320" y="1371600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1">
                <a:latin typeface="Times New Roman"/>
              </a:rPr>
              <a:t>Frontend Technologies</a:t>
            </a:r>
          </a:p>
          <a:p>
            <a:pPr algn="just"/>
            <a:r>
              <a:rPr sz="1000" b="0">
                <a:latin typeface="Times New Roman"/>
              </a:rPr>
              <a:t>• HTML5 &amp; Vanilla JavaScript: Lightweight, fast, and dependency-free.</a:t>
            </a:r>
          </a:p>
          <a:p>
            <a:pPr algn="just"/>
            <a:r>
              <a:rPr sz="1000" b="0">
                <a:latin typeface="Times New Roman"/>
              </a:rPr>
              <a:t>• Tailwind CSS: Responsive, utility-first UI design for premium aesthetics.</a:t>
            </a:r>
          </a:p>
          <a:p>
            <a:pPr algn="just"/>
            <a:r>
              <a:rPr sz="1000" b="0">
                <a:latin typeface="Times New Roman"/>
              </a:rPr>
              <a:t>• ECharts: Powerful rendering for complex graphs, trends, and scatter plots.</a:t>
            </a:r>
          </a:p>
          <a:p>
            <a:pPr algn="l"/>
            <a:r>
              <a:rPr sz="1000" b="0">
                <a:latin typeface="Times New Roman"/>
              </a:rPr>
              <a:t>• Leaflet &amp; Leaflet.heat: Interactive geospatial mapping.</a:t>
            </a:r>
          </a:p>
          <a:p>
            <a:pPr algn="l"/>
            <a:r>
              <a:rPr sz="1000" b="0">
                <a:latin typeface="Times New Roman"/>
              </a:rPr>
              <a:t>• Font Awesome: Clean, professional iconography.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46320" y="1081275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1">
                <a:latin typeface="Times New Roman"/>
              </a:rPr>
              <a:t>Algorithms &amp; Infrastructure</a:t>
            </a:r>
          </a:p>
          <a:p>
            <a:pPr algn="l"/>
            <a:r>
              <a:rPr sz="1000" b="0">
                <a:latin typeface="Times New Roman"/>
              </a:rPr>
              <a:t>ALGORITHMS IMPLEMENTED</a:t>
            </a:r>
          </a:p>
          <a:p>
            <a:pPr algn="l"/>
            <a:r>
              <a:rPr sz="1000" b="0">
                <a:latin typeface="Times New Roman"/>
              </a:rPr>
              <a:t>• Force-directed graph layouts for link analysis.</a:t>
            </a:r>
          </a:p>
          <a:p>
            <a:pPr algn="just"/>
            <a:r>
              <a:rPr sz="1000" b="0">
                <a:latin typeface="Times New Roman"/>
              </a:rPr>
              <a:t>• Pearson Correlation Coefficient for socio-economic insights.</a:t>
            </a:r>
          </a:p>
          <a:p>
            <a:pPr algn="just"/>
            <a:r>
              <a:rPr sz="1000" b="0">
                <a:latin typeface="Times New Roman"/>
              </a:rPr>
              <a:t>• Client-side simulations of Louvain, Centrality, and QuickML MO matching.</a:t>
            </a:r>
          </a:p>
          <a:p>
            <a:pPr algn="l"/>
          </a:p>
          <a:p>
            <a:pPr algn="l"/>
            <a:r>
              <a:rPr sz="1000" b="0">
                <a:latin typeface="Times New Roman"/>
              </a:rPr>
              <a:t>DATA &amp; HOSTING</a:t>
            </a:r>
          </a:p>
          <a:p>
            <a:pPr algn="just"/>
            <a:r>
              <a:rPr sz="1000" b="0">
                <a:latin typeface="Times New Roman"/>
              </a:rPr>
              <a:t>• Data: Static JSON Data Sets (Karnataka Crime Data) + embedded demographics.</a:t>
            </a:r>
          </a:p>
          <a:p>
            <a:pPr algn="just"/>
            <a:r>
              <a:rPr sz="1000" b="0">
                <a:latin typeface="Times New Roman"/>
              </a:rPr>
              <a:t>• Hosting: Deployed on Zoho Catalyst Slate (Web Client Hosting).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21654" y="542990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Times New Roman"/>
              </a:rPr>
              <a:t>List down Catalyst Services being used in the solution</a:t>
            </a:r>
            <a:endParaRPr sz="1800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274320" y="1141142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1">
                <a:latin typeface="Times New Roman"/>
              </a:rPr>
              <a:t>Catalyst Services Utilization</a:t>
            </a:r>
          </a:p>
          <a:p>
            <a:pPr algn="l"/>
            <a:r>
              <a:rPr sz="1000" b="0">
                <a:latin typeface="Times New Roman"/>
              </a:rPr>
              <a:t>CURRENT IMPLEMENTATION</a:t>
            </a:r>
          </a:p>
          <a:p>
            <a:pPr algn="l"/>
            <a:r>
              <a:rPr sz="1000" b="0">
                <a:latin typeface="Times New Roman"/>
              </a:rPr>
              <a:t>1. Slate: Web client hosting for the frontend application.</a:t>
            </a:r>
          </a:p>
          <a:p>
            <a:pPr algn="l"/>
          </a:p>
          <a:p>
            <a:pPr algn="l"/>
            <a:r>
              <a:rPr sz="1000" b="0">
                <a:latin typeface="Times New Roman"/>
              </a:rPr>
              <a:t>PLANNED INTEGRATION (Phase 2)</a:t>
            </a:r>
          </a:p>
          <a:p>
            <a:pPr algn="l"/>
            <a:r>
              <a:rPr sz="1000" b="0">
                <a:latin typeface="Times New Roman"/>
              </a:rPr>
              <a:t>2. QuickML: Real-time MO similarity matching.</a:t>
            </a:r>
          </a:p>
          <a:p>
            <a:pPr algn="l"/>
            <a:r>
              <a:rPr sz="1000" b="0">
                <a:latin typeface="Times New Roman"/>
              </a:rPr>
              <a:t>3. Zia AutoML: Time-series crime forecasting models.</a:t>
            </a:r>
          </a:p>
          <a:p>
            <a:pPr algn="l"/>
            <a:r>
              <a:rPr sz="1000" b="0">
                <a:latin typeface="Times New Roman"/>
              </a:rPr>
              <a:t>4. Data Store: Robust relational crime database.</a:t>
            </a:r>
          </a:p>
          <a:p>
            <a:pPr algn="l"/>
            <a:r>
              <a:rPr sz="1000" b="0">
                <a:latin typeface="Times New Roman"/>
              </a:rPr>
              <a:t>5. Authentication: Secure Login and RBAC implementation.</a:t>
            </a:r>
          </a:p>
          <a:p>
            <a:pPr algn="l"/>
            <a:r>
              <a:rPr sz="1000" b="0">
                <a:latin typeface="Times New Roman"/>
              </a:rPr>
              <a:t>6. Functions: Serverless Agent logic and APIs.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08274" y="995090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1">
                <a:latin typeface="Times New Roman"/>
              </a:rPr>
              <a:t>Why Catalyst?</a:t>
            </a:r>
          </a:p>
          <a:p>
            <a:pPr algn="just"/>
            <a:r>
              <a:rPr sz="1000" b="0">
                <a:latin typeface="Times New Roman"/>
              </a:rPr>
              <a:t>• Rapid Deployment: Slate enabled immediate, hassle-free deployment of the frontend.</a:t>
            </a:r>
          </a:p>
          <a:p>
            <a:pPr algn="just"/>
            <a:r>
              <a:rPr sz="1000" b="0">
                <a:latin typeface="Times New Roman"/>
              </a:rPr>
              <a:t>• Unified AI Ecosystem: Native access to Zia and QuickML ensures a seamless transition from prototype to production.</a:t>
            </a:r>
          </a:p>
          <a:p>
            <a:pPr algn="just"/>
            <a:r>
              <a:rPr sz="1000" b="0">
                <a:latin typeface="Times New Roman"/>
              </a:rPr>
              <a:t>• Serverless Scalability: Designed to handle varying loads from state-wide police forces efficiently and cost-effectively.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49400" y="558355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Times New Roman"/>
              </a:rPr>
              <a:t>Estimated implementation cost (optional)</a:t>
            </a:r>
            <a:endParaRPr sz="1800" b="1" dirty="0"/>
          </a:p>
        </p:txBody>
      </p:sp>
      <p:sp>
        <p:nvSpPr>
          <p:cNvPr id="109" name="TextBox 108"/>
          <p:cNvSpPr txBox="1"/>
          <p:nvPr/>
        </p:nvSpPr>
        <p:spPr>
          <a:xfrm>
            <a:off x="228600" y="1110425"/>
            <a:ext cx="8686800" cy="34747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100" b="1" dirty="0">
                <a:solidFill>
                  <a:srgbClr val="B8862A"/>
                </a:solidFill>
                <a:latin typeface="Times New Roman"/>
              </a:rPr>
              <a:t>MONTHLY COST (50-investigator pilot, 1,000 queries/day)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100" b="1" dirty="0">
              <a:solidFill>
                <a:srgbClr val="B8862A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Times New Roman"/>
              </a:rPr>
              <a:t>Service                          Cost (USD/month)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 err="1">
                <a:solidFill>
                  <a:srgbClr val="1B1B19"/>
                </a:solidFill>
                <a:latin typeface="Times New Roman"/>
              </a:rPr>
              <a:t>QuickML</a:t>
            </a:r>
            <a:r>
              <a:rPr sz="1000" b="0" dirty="0">
                <a:solidFill>
                  <a:srgbClr val="1B1B19"/>
                </a:solidFill>
                <a:latin typeface="Times New Roman"/>
              </a:rPr>
              <a:t> LLM (30M tokens)         $60-90   ← largest line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Zia STT/TTS (6K calls)           $8-12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 err="1">
                <a:solidFill>
                  <a:srgbClr val="1B1B19"/>
                </a:solidFill>
                <a:latin typeface="Times New Roman"/>
              </a:rPr>
              <a:t>SmartBrowz</a:t>
            </a:r>
            <a:r>
              <a:rPr sz="1000" b="0" dirty="0">
                <a:solidFill>
                  <a:srgbClr val="1B1B19"/>
                </a:solidFill>
                <a:latin typeface="Times New Roman"/>
              </a:rPr>
              <a:t> PDF (3K renders)      $5-8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Functions (30K invocations)      $5-8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Zia Translation (12K calls)      $4-6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NoSQL (90K docs)                 $3-5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 err="1">
                <a:solidFill>
                  <a:srgbClr val="1B1B19"/>
                </a:solidFill>
                <a:latin typeface="Times New Roman"/>
              </a:rPr>
              <a:t>QuickML</a:t>
            </a:r>
            <a:r>
              <a:rPr sz="1000" b="0" dirty="0">
                <a:solidFill>
                  <a:srgbClr val="1B1B19"/>
                </a:solidFill>
                <a:latin typeface="Times New Roman"/>
              </a:rPr>
              <a:t> Embeddings (15K)         $3-5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Cache + Data Store + Stratus     $5-9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API Gateway + Auth + Cron        $2-3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Slate (web hosting)              $0 (included)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000" b="0" dirty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200" b="1" dirty="0">
                <a:solidFill>
                  <a:srgbClr val="B8862A"/>
                </a:solidFill>
                <a:latin typeface="Times New Roman"/>
              </a:rPr>
              <a:t>TOTAL ESTIMATED: $96 - $149 / month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200" b="1" dirty="0">
              <a:solidFill>
                <a:srgbClr val="B8862A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6B7785"/>
                </a:solidFill>
                <a:latin typeface="Times New Roman"/>
              </a:rPr>
              <a:t>PRODUCTION SCALE (5,000 investigators): ~$3,000-5,000/month — far cheaper than commercial crime analytics suites. Catalyst credits cover entire prototype + first pilot month. Cost optimization: cache common queries, use smaller model for intent classification, batch LLM calls.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Times New Roman"/>
              </a:rPr>
              <a:t>Snapshots of the prototype</a:t>
            </a:r>
            <a:endParaRPr sz="1800" b="1"/>
          </a:p>
        </p:txBody>
      </p:sp>
      <p:sp>
        <p:nvSpPr>
          <p:cNvPr id="115" name="TextBox 114"/>
          <p:cNvSpPr txBox="1"/>
          <p:nvPr/>
        </p:nvSpPr>
        <p:spPr>
          <a:xfrm>
            <a:off x="274320" y="1554480"/>
            <a:ext cx="8686800" cy="34747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200" b="1">
                <a:solidFill>
                  <a:srgbClr val="6B7785"/>
                </a:solidFill>
                <a:latin typeface="Times New Roman"/>
              </a:rPr>
              <a:t>[Prototype screenshots to be added after build completion]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200" b="1">
              <a:solidFill>
                <a:srgbClr val="6B7785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100" b="1">
                <a:solidFill>
                  <a:srgbClr val="B8862A"/>
                </a:solidFill>
                <a:latin typeface="Times New Roman"/>
              </a:rPr>
              <a:t>PLANNED SNAPSHOTS (to capture during Day 7 demo rehearsal):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100" b="1">
              <a:solidFill>
                <a:srgbClr val="B8862A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1. Chat Interface — multilingual compound query with evidence-trail panel expanded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2. Network Graph Explorer — criminal network around a repeat offender, community hulls visible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3. Analytics Dashboard — Karnataka hotspot heatmap + trend line + 7x24 day-hour chart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4. Decision Support Panel — case summary + top-5 similar cases + lead recommendations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5. Evidence Trail Viewer — full reasoning path for one response (agents, tools, SQL, confidence)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6. PDF Export — sample conversation PDF with embedded evidence trails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7. Voice Interaction — Kannada voice query round-trip (STT → agent → TTS)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8. RBAC — investigator vs analyst view of same case (PII masking demonstrated)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000" b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>
                <a:solidFill>
                  <a:srgbClr val="6B7785"/>
                </a:solidFill>
                <a:latin typeface="Times New Roman"/>
              </a:rPr>
              <a:t>Note: Snapshots will be captured at 1920x1080 resolution and placed 2-per-slide for jury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Times New Roman"/>
              </a:rPr>
              <a:t>Prototype Performance report/Benchmarking</a:t>
            </a:r>
            <a:endParaRPr sz="1800" b="1"/>
          </a:p>
        </p:txBody>
      </p:sp>
      <p:sp>
        <p:nvSpPr>
          <p:cNvPr id="121" name="TextBox 120"/>
          <p:cNvSpPr txBox="1"/>
          <p:nvPr/>
        </p:nvSpPr>
        <p:spPr>
          <a:xfrm>
            <a:off x="274320" y="1371600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100" b="1">
                <a:solidFill>
                  <a:srgbClr val="B8862A"/>
                </a:solidFill>
                <a:latin typeface="Times New Roman"/>
              </a:rPr>
              <a:t>EXPECTED PERFORMANCE (target)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100" b="1">
              <a:solidFill>
                <a:srgbClr val="B8862A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>
                <a:solidFill>
                  <a:srgbClr val="1F3A5F"/>
                </a:solidFill>
                <a:latin typeface="Times New Roman"/>
              </a:rPr>
              <a:t>LATENCY (p95)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• Simple FIR lookup:        &lt; 800ms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• Single-agent analytics:   &lt; 2.5s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• Compound query (2 agents):&lt; 4.0s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• Case summary (LLM):       &lt; 6.0s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• Similar-case retrieval:   &lt; 1.5s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• PDF export (SmartBrowz):  &lt; 8.0s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• Voice round-trip:         &lt; 5.0s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000" b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>
                <a:solidFill>
                  <a:srgbClr val="1F3A5F"/>
                </a:solidFill>
                <a:latin typeface="Times New Roman"/>
              </a:rPr>
              <a:t>THROUGHPUT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• 50 concurrent users, 1K queries/day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• Catalyst auto-scales Functions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>
                <a:solidFill>
                  <a:srgbClr val="1B1B19"/>
                </a:solidFill>
                <a:latin typeface="Times New Roman"/>
              </a:rPr>
              <a:t>• Cache hit rate target: &gt; 60%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57745" y="1215483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100" b="1" dirty="0">
                <a:solidFill>
                  <a:srgbClr val="B8862A"/>
                </a:solidFill>
                <a:latin typeface="Times New Roman"/>
              </a:rPr>
              <a:t>QUALITY METRICS (eval set)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100" b="1" dirty="0">
              <a:solidFill>
                <a:srgbClr val="B8862A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• 50-query eval set (10 per agent + 10 compound)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• Response accuracy target: &gt; 90% pass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• Evidence trail completeness: 100%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• RBAC enforcement: 100% (no leakage)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• Hallucination rate: &lt; 2% (refusal-when-no-data)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000" b="0" dirty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Times New Roman"/>
              </a:rPr>
              <a:t>ACCURACY BASELINES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• Network community detection: validated against expert-labeled 50-node sample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• Hotspot KDE: validated against known Bengaluru crime zones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• Similar-case retrieval: top-5 precision &gt; 0.8 (human eval)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• Lead recommendations: rule-based, 100% explainable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000" b="0" dirty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Times New Roman"/>
              </a:rPr>
              <a:t>COST EFFICIENCY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• $0.10-0.15 per query (all-inclusive)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0" dirty="0">
                <a:solidFill>
                  <a:srgbClr val="1B1B19"/>
                </a:solidFill>
                <a:latin typeface="Times New Roman"/>
              </a:rPr>
              <a:t>• 5x cheaper than commercial alternatives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310800" y="783373"/>
            <a:ext cx="8833200" cy="51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Times New Roman"/>
              </a:rPr>
              <a:t>Provide links to your:</a:t>
            </a: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310800" y="1375317"/>
            <a:ext cx="8686800" cy="298481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300" b="1">
                <a:latin typeface="Times New Roman"/>
              </a:rPr>
              <a:t>Project Links</a:t>
            </a:r>
          </a:p>
          <a:p>
            <a:pPr algn="l"/>
            <a:r>
              <a:rPr sz="1000" b="0">
                <a:latin typeface="Times New Roman"/>
              </a:rPr>
              <a:t>GitHub Public Repository:</a:t>
            </a:r>
          </a:p>
          <a:p>
            <a:pPr algn="l"/>
            <a:r>
              <a:rPr sz="1000" b="0">
                <a:latin typeface="Times New Roman"/>
              </a:rPr>
              <a:t>https://github.com/[your-team]/ksp-crime-analytics</a:t>
            </a:r>
          </a:p>
          <a:p>
            <a:pPr algn="just"/>
            <a:r>
              <a:rPr sz="1000" b="0">
                <a:latin typeface="Times New Roman"/>
              </a:rPr>
              <a:t>(Contains: Frontend HTML/JS, Data JSONs, Catalyst configuration)</a:t>
            </a:r>
          </a:p>
          <a:p>
            <a:pPr algn="l"/>
          </a:p>
          <a:p>
            <a:pPr algn="l"/>
            <a:r>
              <a:rPr sz="1000" b="0">
                <a:latin typeface="Times New Roman"/>
              </a:rPr>
              <a:t>Demo Video Link:</a:t>
            </a:r>
          </a:p>
          <a:p>
            <a:pPr algn="l"/>
            <a:r>
              <a:rPr sz="1000" b="0">
                <a:latin typeface="Times New Roman"/>
              </a:rPr>
              <a:t>https://[youtube/vimeo-link]</a:t>
            </a:r>
          </a:p>
          <a:p>
            <a:pPr algn="just"/>
            <a:r>
              <a:rPr sz="1000" b="0">
                <a:latin typeface="Times New Roman"/>
              </a:rPr>
              <a:t>(Walkthrough: Problem Statement -&gt; Main Dashboard -&gt; Network Algorithms -&gt; Predictive AI)</a:t>
            </a:r>
          </a:p>
          <a:p>
            <a:pPr algn="l"/>
          </a:p>
          <a:p>
            <a:pPr algn="l"/>
            <a:r>
              <a:rPr sz="1000" b="0">
                <a:latin typeface="Times New Roman"/>
              </a:rPr>
              <a:t>Deployed Application:</a:t>
            </a:r>
          </a:p>
          <a:p>
            <a:pPr algn="l"/>
            <a:r>
              <a:rPr sz="1000" b="0">
                <a:latin typeface="Times New Roman"/>
              </a:rPr>
              <a:t>https://ksp-crime.zoho.com (Catalyst Slate deployment)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Times New Roman"/>
              </a:rPr>
              <a:t>Additional Details/Future Development (if any)</a:t>
            </a:r>
            <a:endParaRPr sz="1800" b="1"/>
          </a:p>
        </p:txBody>
      </p:sp>
      <p:sp>
        <p:nvSpPr>
          <p:cNvPr id="133" name="TextBox 132"/>
          <p:cNvSpPr txBox="1"/>
          <p:nvPr/>
        </p:nvSpPr>
        <p:spPr>
          <a:xfrm>
            <a:off x="182880" y="1534408"/>
            <a:ext cx="4389120" cy="3383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100" b="1" dirty="0">
                <a:solidFill>
                  <a:srgbClr val="B8862A"/>
                </a:solidFill>
                <a:latin typeface="Times New Roman"/>
              </a:rPr>
              <a:t>6-MONTH ROADMAP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100" b="1" dirty="0">
              <a:solidFill>
                <a:srgbClr val="B8862A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Times New Roman"/>
              </a:rPr>
              <a:t>Month 1-2: Production Data Integration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Connect to real KSP crime database (read-only pilot)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Validate agents on real (messy) data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Pilot at 1 Bengaluru police station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900" b="0" dirty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Times New Roman"/>
              </a:rPr>
              <a:t>Month 3-4: Phase 2 Modules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Sociological Insights (demographic correlations)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Offender Profiling + Zia AutoML risk scoring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Financial Crime Link Analysis (money trails)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900" b="0" dirty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Times New Roman"/>
              </a:rPr>
              <a:t>Month 5-6: Forecasting + Scale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Crime Forecasting (Zia AutoML time-series)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Early Warning alerts via Signals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Roll out to 5-10 stations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029203" y="1478200"/>
            <a:ext cx="4297680" cy="3383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100" b="1" dirty="0">
                <a:solidFill>
                  <a:srgbClr val="B8862A"/>
                </a:solidFill>
                <a:latin typeface="Times New Roman"/>
              </a:rPr>
              <a:t>12-MONTH VISION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100" b="1" dirty="0">
              <a:solidFill>
                <a:srgbClr val="B8862A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Times New Roman"/>
              </a:rPr>
              <a:t>Month 7-12: State-wide Rollout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All 350+ KSP police stations (10/month)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Training &amp; change management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Mobile app for field investigators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900" b="0" dirty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1F3A5F"/>
                </a:solidFill>
                <a:latin typeface="Times New Roman"/>
              </a:rPr>
              <a:t>Ecosystem Integration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CCTNS integration via Catalyst Connections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ICJS interoperability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Federated learning across districts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900" b="0" dirty="0">
              <a:solidFill>
                <a:srgbClr val="1B1B19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000" b="1" dirty="0">
                <a:solidFill>
                  <a:srgbClr val="B8862A"/>
                </a:solidFill>
                <a:latin typeface="Times New Roman"/>
              </a:rPr>
              <a:t>ADVANCED AI (Year 2)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Counterfactual explanations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What-if analysis tool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Multi-modal evidence (image, audio, video)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900" b="0" dirty="0">
                <a:solidFill>
                  <a:srgbClr val="1B1B19"/>
                </a:solidFill>
                <a:latin typeface="Times New Roman"/>
              </a:rPr>
              <a:t>• Federated model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139" name="TextBox 138"/>
          <p:cNvSpPr txBox="1"/>
          <p:nvPr/>
        </p:nvSpPr>
        <p:spPr>
          <a:xfrm>
            <a:off x="1371600" y="1645920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3600" b="1">
                <a:solidFill>
                  <a:srgbClr val="1F3A5F"/>
                </a:solidFill>
                <a:latin typeface="Times New Roman"/>
              </a:rPr>
              <a:t>Thank You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3600" b="1">
              <a:solidFill>
                <a:srgbClr val="1F3A5F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800" b="1">
                <a:solidFill>
                  <a:srgbClr val="B8862A"/>
                </a:solidFill>
                <a:latin typeface="Times New Roman"/>
              </a:rPr>
              <a:t>KSP Crime Intelligence Platform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400" b="0">
                <a:solidFill>
                  <a:srgbClr val="6B7785"/>
                </a:solidFill>
                <a:latin typeface="Times New Roman"/>
              </a:rPr>
              <a:t>Agentic · Explainable · Catalyst-Native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endParaRPr sz="1400" b="0">
              <a:solidFill>
                <a:srgbClr val="6B7785"/>
              </a:solidFill>
              <a:latin typeface="Calibri"/>
            </a:endParaRP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1B1B19"/>
                </a:solidFill>
                <a:latin typeface="Times New Roman"/>
              </a:rPr>
              <a:t>Questions &amp; Discussion welcome.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2398</Words>
  <Application>Microsoft Office PowerPoint</Application>
  <PresentationFormat>On-screen Show (16:9)</PresentationFormat>
  <Paragraphs>281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Manoj M</cp:lastModifiedBy>
  <cp:revision>3</cp:revision>
  <dcterms:modified xsi:type="dcterms:W3CDTF">2026-07-15T04:56:13Z</dcterms:modified>
</cp:coreProperties>
</file>